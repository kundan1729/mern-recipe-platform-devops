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3" r:id="rId26"/>
    <p:sldId id="28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857250"/>
            <a:ext cx="9143771" cy="72009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80060" y="1748790"/>
            <a:ext cx="4986430" cy="5770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3294B"/>
                </a:solidFill>
              </a:defRPr>
            </a:pPr>
            <a:r>
              <a:rPr sz="3150"/>
              <a:t>DevOps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1" y="2537460"/>
            <a:ext cx="67958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66B2"/>
                </a:solidFill>
              </a:defRPr>
            </a:pPr>
            <a:r>
              <a:t>MERN Recipe Platform: Automation and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1"/>
            <a:ext cx="5354286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300">
                <a:solidFill>
                  <a:srgbClr val="282828"/>
                </a:solidFill>
              </a:defRPr>
            </a:pPr>
            <a:r>
              <a:rPr sz="1725" dirty="0"/>
              <a:t>Name: Kundan Kumar</a:t>
            </a:r>
          </a:p>
          <a:p>
            <a:pPr>
              <a:spcAft>
                <a:spcPts val="600"/>
              </a:spcAft>
              <a:defRPr sz="2300">
                <a:solidFill>
                  <a:srgbClr val="282828"/>
                </a:solidFill>
              </a:defRPr>
            </a:pPr>
            <a:r>
              <a:rPr sz="1725" dirty="0"/>
              <a:t>Registration No: 122065</a:t>
            </a:r>
            <a:r>
              <a:rPr lang="en-US" sz="1725" dirty="0"/>
              <a:t>77</a:t>
            </a:r>
            <a:endParaRPr sz="1725" dirty="0"/>
          </a:p>
          <a:p>
            <a:pPr>
              <a:spcAft>
                <a:spcPts val="600"/>
              </a:spcAft>
              <a:defRPr sz="2300">
                <a:solidFill>
                  <a:srgbClr val="282828"/>
                </a:solidFill>
              </a:defRPr>
            </a:pPr>
            <a:r>
              <a:rPr sz="1725" dirty="0"/>
              <a:t>Course: INT334 : ENTERPRISE APPLICATION AUTOMATION</a:t>
            </a:r>
          </a:p>
          <a:p>
            <a:pPr>
              <a:spcAft>
                <a:spcPts val="600"/>
              </a:spcAft>
              <a:defRPr sz="2300">
                <a:solidFill>
                  <a:srgbClr val="282828"/>
                </a:solidFill>
              </a:defRPr>
            </a:pPr>
            <a:r>
              <a:rPr sz="1725" dirty="0"/>
              <a:t>Presented To: Priyanka Gupta</a:t>
            </a:r>
          </a:p>
        </p:txBody>
      </p:sp>
      <p:pic>
        <p:nvPicPr>
          <p:cNvPr id="6" name="Picture 5" descr="lp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1817370"/>
            <a:ext cx="2125980" cy="10353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061" y="5520691"/>
            <a:ext cx="82747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978"/>
                </a:solidFill>
              </a:defRPr>
            </a:pPr>
            <a:r>
              <a:rPr sz="1200"/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Application: </a:t>
            </a:r>
            <a:r>
              <a:rPr dirty="0"/>
              <a:t>MERN Stack Recipe Platform with AI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Components: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Frontend: React + TypeScript (recipe-client-dev)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Backend: Node.js Express Server (recipe-server-dev)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Database: MongoDB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Infrastructure: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Local: Docker Compose for development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Production: Google Kubernetes Engine (GKE)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857250"/>
            <a:ext cx="9143771" cy="58293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sz="2100"/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0060" y="2366010"/>
            <a:ext cx="1371600" cy="75438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2828"/>
                </a:solidFill>
              </a:defRPr>
            </a:pPr>
            <a:r>
              <a:rPr sz="1350"/>
              <a:t>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2366010"/>
            <a:ext cx="1851660" cy="75438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sz="1050"/>
              <a:t>GKE Ingress</a:t>
            </a:r>
            <a:br>
              <a:rPr sz="1050"/>
            </a:br>
            <a:r>
              <a:rPr sz="1050"/>
              <a:t>/api and 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540" y="1817370"/>
            <a:ext cx="1920240" cy="754380"/>
          </a:xfrm>
          <a:prstGeom prst="roundRect">
            <a:avLst/>
          </a:prstGeom>
          <a:solidFill>
            <a:srgbClr val="E8F5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sz="1050"/>
              <a:t>Frontend</a:t>
            </a:r>
            <a:br>
              <a:rPr sz="1050"/>
            </a:br>
            <a:r>
              <a:rPr sz="1050"/>
              <a:t>React + Nginx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540" y="2914650"/>
            <a:ext cx="1920240" cy="754380"/>
          </a:xfrm>
          <a:prstGeom prst="roundRect">
            <a:avLst/>
          </a:prstGeom>
          <a:solidFill>
            <a:srgbClr val="ECFCF2"/>
          </a:solidFill>
          <a:ln>
            <a:solidFill>
              <a:srgbClr val="2C8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sz="1050"/>
              <a:t>Backend API</a:t>
            </a:r>
            <a:br>
              <a:rPr sz="1050"/>
            </a:br>
            <a:r>
              <a:rPr sz="1050"/>
              <a:t>Node.js Express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914650"/>
            <a:ext cx="2057400" cy="754380"/>
          </a:xfrm>
          <a:prstGeom prst="roundRect">
            <a:avLst/>
          </a:prstGeom>
          <a:solidFill>
            <a:srgbClr val="FFFFFF"/>
          </a:solidFill>
          <a:ln>
            <a:solidFill>
              <a:srgbClr val="2C8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sz="1050"/>
              <a:t>MongoDB and Secrets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4354830"/>
            <a:ext cx="3017520" cy="754380"/>
          </a:xfrm>
          <a:prstGeom prst="roundRect">
            <a:avLst/>
          </a:prstGeom>
          <a:solidFill>
            <a:srgbClr val="FFF5E8"/>
          </a:solidFill>
          <a:ln>
            <a:solidFill>
              <a:srgbClr val="DC8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2828"/>
                </a:solidFill>
              </a:defRPr>
            </a:pPr>
            <a:r>
              <a:rPr sz="975"/>
              <a:t>GitHub Actions -&gt; Artifact Registry -&gt; GKE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354830"/>
            <a:ext cx="3154680" cy="754380"/>
          </a:xfrm>
          <a:prstGeom prst="roundRect">
            <a:avLst/>
          </a:prstGeom>
          <a:solidFill>
            <a:srgbClr val="FFF1F1"/>
          </a:solidFill>
          <a:ln>
            <a:solidFill>
              <a:srgbClr val="BF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sz="1050"/>
              <a:t>Prometheus + Alertmanager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51660" y="2743200"/>
            <a:ext cx="342900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046220" y="2228850"/>
            <a:ext cx="274320" cy="44577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46220" y="2811780"/>
            <a:ext cx="274320" cy="48006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40780" y="3291840"/>
            <a:ext cx="342900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280660" y="3669030"/>
            <a:ext cx="0" cy="685801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5897880" y="3669030"/>
            <a:ext cx="1165860" cy="685801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1: Containerization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Docker &amp; Containerization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Multi-stage Builds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Optimized frontend and backend Docker</a:t>
            </a:r>
            <a:r>
              <a:rPr lang="en-IN" dirty="0"/>
              <a:t> </a:t>
            </a:r>
            <a:r>
              <a:rPr dirty="0"/>
              <a:t>files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Reduces image size</a:t>
            </a:r>
            <a:r>
              <a:rPr lang="en-IN" dirty="0"/>
              <a:t> 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lang="en-IN" dirty="0"/>
              <a:t> </a:t>
            </a:r>
            <a:r>
              <a:rPr b="1" dirty="0"/>
              <a:t>Docker Compose for Local Development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Simplified orchestration for development environment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Service dependencies defined (backend before frontend)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Container Best Practices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Separate configuration (env</a:t>
            </a:r>
            <a:r>
              <a:rPr lang="en-IN" dirty="0"/>
              <a:t> </a:t>
            </a:r>
            <a:r>
              <a:rPr dirty="0"/>
              <a:t>file for secrets)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Port mappings clearly defined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Health checks implementation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2: Kubernetes &amp; Orchestration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Kubernetes Architecture (GKE)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226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Namespace Isolation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Dedicated '</a:t>
            </a:r>
            <a:r>
              <a:rPr lang="en-IN" dirty="0"/>
              <a:t> </a:t>
            </a:r>
            <a:r>
              <a:rPr dirty="0" err="1"/>
              <a:t>mern</a:t>
            </a:r>
            <a:r>
              <a:rPr lang="en-IN" dirty="0"/>
              <a:t> - </a:t>
            </a:r>
            <a:r>
              <a:rPr dirty="0"/>
              <a:t>app</a:t>
            </a:r>
            <a:r>
              <a:rPr lang="en-IN" dirty="0"/>
              <a:t> </a:t>
            </a:r>
            <a:r>
              <a:rPr dirty="0"/>
              <a:t>' namespace for resource isolation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Service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Frontend Service: Exposes React app on port 3000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Backend Service: Exposes API on port 5000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</a:t>
            </a:r>
            <a:r>
              <a:rPr b="1" dirty="0"/>
              <a:t>Ingress Controller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Routes /</a:t>
            </a:r>
            <a:r>
              <a:rPr dirty="0" err="1"/>
              <a:t>api</a:t>
            </a:r>
            <a:r>
              <a:rPr dirty="0"/>
              <a:t>/* → backend-service:5000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Routes / → frontend-service:80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Single entry point for all traffic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Deployments &amp; Auto-Scaling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</a:t>
            </a:r>
            <a:r>
              <a:rPr b="1" dirty="0"/>
              <a:t>Rolling Deployments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Zero-downtime updates for frontend and backend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Gradual pod replacement strategy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Horizontal Pod Autoscaling (HPA)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Automatic scaling based on CPU/Memory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Configured for both frontend and backend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Resource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CPU and Memory requests/limits defined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Ensures efficient cluster resource utilization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3: CI/CD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GitHub Actions 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</a:t>
            </a:r>
            <a:r>
              <a:rPr b="1" dirty="0"/>
              <a:t>OIDC-Based Authentication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Workload Identity Federation with GCP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No static cloud keys stored in GitHub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Workflow Triggers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Main branch push: Full build → push → deploy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Pull requests: Validation only (no deployment)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Manual dispatch: On-demand deployments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Pipeline Stages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Validation &amp; linting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Docker image build &amp; push to Google Artifact Registry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Kubernetes manifest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Secrets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GitHub Secrets Configuration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GCP_PROJECT_ID, GAR_LOCATION, GAR_REPOSITORY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GKE_CLUSTER, GKE_LOCATION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GCP_WORKLOAD_IDENTITY_PROVIDER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GCP_SERVICE_ACCOUNT_EMAIL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Kubernetes Secrets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</a:t>
            </a:r>
            <a:r>
              <a:rPr dirty="0" err="1"/>
              <a:t>mern</a:t>
            </a:r>
            <a:r>
              <a:rPr dirty="0"/>
              <a:t>-app-secret: Runtime application secrets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Database credentials, API keys, JWT secrets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Security Practices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NO hardcoded secrets in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NO </a:t>
            </a:r>
            <a:r>
              <a:rPr dirty="0" err="1"/>
              <a:t>kubeconfig</a:t>
            </a:r>
            <a:r>
              <a:rPr dirty="0"/>
              <a:t> files in repository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4: Observability &amp;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Observability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Prometheus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</a:t>
            </a:r>
            <a:r>
              <a:rPr dirty="0" err="1"/>
              <a:t>ServiceMonitor</a:t>
            </a:r>
            <a:r>
              <a:rPr dirty="0"/>
              <a:t> for backend metrics collection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Custom alert rules for backend services</a:t>
            </a:r>
            <a:endParaRPr lang="en-IN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Alert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</a:t>
            </a:r>
            <a:r>
              <a:rPr dirty="0" err="1"/>
              <a:t>AlertManager</a:t>
            </a:r>
            <a:r>
              <a:rPr dirty="0"/>
              <a:t> for centralized alert handling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Backend-specific alert rules configured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Metrics Coverage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Application performance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Container resource utilization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Request latency and error rates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5: Infrastructure as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ConfigMap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744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 lang="en-IN" b="1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Kubernetes </a:t>
            </a:r>
            <a:r>
              <a:rPr b="1" dirty="0" err="1"/>
              <a:t>ConfigMap</a:t>
            </a:r>
            <a:endParaRPr b="1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Non-sensitive configuration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Environment-specific settings</a:t>
            </a:r>
            <a:endParaRPr lang="en-IN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 lang="en-IN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lang="en-IN" dirty="0"/>
              <a:t> </a:t>
            </a:r>
            <a:r>
              <a:rPr b="1" dirty="0"/>
              <a:t>Well-Organized 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k8s/ directory with logical subdirectories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Clear separation of concerns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6: Security Best Practices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Security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</a:t>
            </a:r>
            <a:r>
              <a:rPr b="1" dirty="0"/>
              <a:t>Identity &amp;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Workload Identity Federation eliminates long-lived keys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Least-privilege IAM roles for GitHub 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Secret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Secrets never in code or configuration files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GitHub Secrets for CI/CD credentials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Kubernetes Secrets for runtime credentials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Network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Namespace isolation for workload separation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Service-to-service communication secured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Ingress for external traffic management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Repository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226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</a:t>
            </a:r>
            <a:r>
              <a:rPr b="1" dirty="0"/>
              <a:t>Submodule Strategy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Frontend and backend tracked as separate submodules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Independent version control and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Configuration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.env files excluded (in .</a:t>
            </a:r>
            <a:r>
              <a:rPr dirty="0" err="1"/>
              <a:t>gitignore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</a:t>
            </a:r>
            <a:r>
              <a:rPr dirty="0" err="1"/>
              <a:t>Kubeconfig</a:t>
            </a:r>
            <a:r>
              <a:rPr dirty="0"/>
              <a:t> files never committed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Version Control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All infrastructure code in Git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Easy CI/CD integration and collaboration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7: Deployment &amp; Operations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Production Deployment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1️⃣ </a:t>
            </a:r>
            <a:r>
              <a:rPr b="1" dirty="0"/>
              <a:t>Code Push → GitHub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Developer pushes to main branch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2️⃣ </a:t>
            </a:r>
            <a:r>
              <a:rPr b="1" dirty="0"/>
              <a:t>Automated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Linting and build checks run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3️⃣ </a:t>
            </a:r>
            <a:r>
              <a:rPr b="1" dirty="0"/>
              <a:t>Image Build &amp; Registry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Docker images built and pushed to Google Artifact Registry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4️⃣ </a:t>
            </a:r>
            <a:r>
              <a:rPr b="1" dirty="0"/>
              <a:t>Kubernetes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Rolling update to GKE cluster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Zero-downtime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5️⃣ Health Checks &amp;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Automatic validation and metric collection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Scaling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b="1" dirty="0"/>
              <a:t>Horizontal Scaling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HPA adjusts pod replicas based on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Automated response to traffic spikes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CPU and memory-based thresholds</a:t>
            </a:r>
            <a:endParaRPr lang="en-IN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</a:t>
            </a:r>
            <a:r>
              <a:rPr b="1" dirty="0"/>
              <a:t>Load Balancing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Kubernetes Service load balancing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Ingress routes to appropriate backend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</a:t>
            </a:r>
            <a:r>
              <a:rPr b="1" dirty="0"/>
              <a:t>Performance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Container resource limits prevent runaway processes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Efficient scheduling across cluster nodes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Disaster Recovery &amp;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🔄 Backup Strategy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All configuration in Git (versioned)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Easy recreation of entire infrastructure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🔄 Rolling Updates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Automatic rollback capability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Previous versions easily restored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📊 Health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Liveness and readiness probes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Automatic pod restart on failure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Section 8: Tools &amp; Technologies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DevOps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🐳 </a:t>
            </a:r>
            <a:r>
              <a:rPr b="1" dirty="0"/>
              <a:t>Container Runtime: Docker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Image building and local orchestration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☸️ </a:t>
            </a:r>
            <a:r>
              <a:rPr b="1" dirty="0"/>
              <a:t>Orchestration: Kubernetes (GKE)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Production deployment and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🔄 </a:t>
            </a:r>
            <a:r>
              <a:rPr b="1" dirty="0"/>
              <a:t>CI/CD: GitHub 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Workflow automation and deployment pipeline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📦 </a:t>
            </a:r>
            <a:r>
              <a:rPr b="1" dirty="0"/>
              <a:t>Registry: Google Artifact Registry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Docker image storage and versioning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📊</a:t>
            </a:r>
            <a:r>
              <a:rPr b="1" dirty="0"/>
              <a:t> Monitoring</a:t>
            </a:r>
            <a:r>
              <a:rPr dirty="0"/>
              <a:t>: Prometheus &amp; </a:t>
            </a:r>
            <a:r>
              <a:rPr dirty="0" err="1"/>
              <a:t>AlertManager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dirty="0"/>
              <a:t>  • Metrics collection and alerting</a:t>
            </a:r>
            <a:endParaRPr lang="en-IN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rPr lang="en-IN" b="1" dirty="0"/>
              <a:t>Visualization: 	</a:t>
            </a:r>
            <a:r>
              <a:rPr lang="en-IN" sz="1600" dirty="0"/>
              <a:t>Grafana</a:t>
            </a:r>
            <a:endParaRPr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DevOps Best Practices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Version Control Everything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Infrastructure, configurations, and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Automation First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Build, test, and deploy automatically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Infrastructure as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Reproducible and version-controlled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Security by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OIDC, no static credentials, secret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✅ Observability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• Monitoring, alerting, and metrics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DCF0"/>
                </a:solidFill>
              </a:defRPr>
            </a:pPr>
            <a:br>
              <a:rPr dirty="0"/>
            </a:br>
            <a:br>
              <a:rPr dirty="0"/>
            </a:br>
            <a:r>
              <a:rPr dirty="0"/>
              <a:t>DevOps practices ensure reliability, security, and scalability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1076</Words>
  <Application>Microsoft Office PowerPoint</Application>
  <PresentationFormat>On-screen Show (4:3)</PresentationFormat>
  <Paragraphs>197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kundan kumar</cp:lastModifiedBy>
  <cp:revision>6</cp:revision>
  <dcterms:created xsi:type="dcterms:W3CDTF">2013-01-27T09:14:16Z</dcterms:created>
  <dcterms:modified xsi:type="dcterms:W3CDTF">2026-04-20T06:42:16Z</dcterms:modified>
  <cp:category/>
</cp:coreProperties>
</file>